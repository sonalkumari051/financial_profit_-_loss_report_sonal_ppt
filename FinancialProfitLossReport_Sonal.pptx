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292" r:id="rId5"/>
    <p:sldId id="1291" r:id="rId6"/>
    <p:sldId id="1292" r:id="rId7"/>
    <p:sldId id="1294" r:id="rId8"/>
    <p:sldId id="1293" r:id="rId9"/>
    <p:sldId id="1296" r:id="rId10"/>
    <p:sldId id="1250"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C73"/>
    <a:srgbClr val="E8ECF8"/>
    <a:srgbClr val="EF6331"/>
    <a:srgbClr val="223366"/>
    <a:srgbClr val="00717D"/>
    <a:srgbClr val="C9D2ED"/>
    <a:srgbClr val="851910"/>
    <a:srgbClr val="0000FF"/>
    <a:srgbClr val="FFCD8C"/>
    <a:srgbClr val="9F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02"/>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15-05-2026</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215169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2" name="Rectangle 1">
            <a:extLst>
              <a:ext uri="{FF2B5EF4-FFF2-40B4-BE49-F238E27FC236}">
                <a16:creationId xmlns:a16="http://schemas.microsoft.com/office/drawing/2014/main" id="{1C8B4DC1-1FB6-97A3-9F51-B9358500E0A8}"/>
              </a:ext>
            </a:extLst>
          </p:cNvPr>
          <p:cNvSpPr/>
          <p:nvPr userDrawn="1"/>
        </p:nvSpPr>
        <p:spPr>
          <a:xfrm>
            <a:off x="0" y="454356"/>
            <a:ext cx="9144000" cy="45719"/>
          </a:xfrm>
          <a:prstGeom prst="rect">
            <a:avLst/>
          </a:prstGeom>
          <a:solidFill>
            <a:srgbClr val="EF63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97B0C45-392E-206A-6503-A52CA087AB64}"/>
              </a:ext>
            </a:extLst>
          </p:cNvPr>
          <p:cNvSpPr/>
          <p:nvPr userDrawn="1"/>
        </p:nvSpPr>
        <p:spPr>
          <a:xfrm>
            <a:off x="0" y="2445"/>
            <a:ext cx="9144000" cy="467289"/>
          </a:xfrm>
          <a:prstGeom prst="rect">
            <a:avLst/>
          </a:prstGeom>
          <a:solidFill>
            <a:srgbClr val="E8EC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oogle Shape;110;p4" descr="A close up of a sign  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7717638" y="48027"/>
            <a:ext cx="1125129" cy="376123"/>
          </a:xfrm>
          <a:prstGeom prst="rect">
            <a:avLst/>
          </a:prstGeom>
          <a:noFill/>
          <a:ln>
            <a:noFill/>
          </a:ln>
        </p:spPr>
      </p:pic>
      <p:sp>
        <p:nvSpPr>
          <p:cNvPr id="14" name="Rectangle 13">
            <a:extLst>
              <a:ext uri="{FF2B5EF4-FFF2-40B4-BE49-F238E27FC236}">
                <a16:creationId xmlns:a16="http://schemas.microsoft.com/office/drawing/2014/main" id="{51E902BD-DE18-50F7-2A75-FEB6FA54A56F}"/>
              </a:ext>
            </a:extLst>
          </p:cNvPr>
          <p:cNvSpPr/>
          <p:nvPr userDrawn="1"/>
        </p:nvSpPr>
        <p:spPr>
          <a:xfrm>
            <a:off x="0" y="5097781"/>
            <a:ext cx="9144000" cy="4571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1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hyperlink" Target="https://copilotstudio.microsoft.com/environments/Default-ad06ef22-d6dc-4a55-b4c1-c3a158f5f147/bots/cr78b_copilot1tJ7uAB/canva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48131F8-7219-F30F-23C3-B1A523F13B4D}"/>
              </a:ext>
            </a:extLst>
          </p:cNvPr>
          <p:cNvSpPr/>
          <p:nvPr/>
        </p:nvSpPr>
        <p:spPr>
          <a:xfrm>
            <a:off x="0" y="8878"/>
            <a:ext cx="9144000" cy="51435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group of people sitting around a table  Description automatically generated">
            <a:extLst>
              <a:ext uri="{FF2B5EF4-FFF2-40B4-BE49-F238E27FC236}">
                <a16:creationId xmlns:a16="http://schemas.microsoft.com/office/drawing/2014/main" id="{F50512D5-A288-DE64-5FE5-FAA83B724C73}"/>
              </a:ext>
            </a:extLst>
          </p:cNvPr>
          <p:cNvPicPr>
            <a:picLocks noChangeAspect="1"/>
          </p:cNvPicPr>
          <p:nvPr/>
        </p:nvPicPr>
        <p:blipFill rotWithShape="1">
          <a:blip r:embed="rId3"/>
          <a:srcRect r="27854" b="25110"/>
          <a:stretch/>
        </p:blipFill>
        <p:spPr>
          <a:xfrm>
            <a:off x="3591976" y="-2697"/>
            <a:ext cx="5563599" cy="3851975"/>
          </a:xfrm>
          <a:prstGeom prst="rect">
            <a:avLst/>
          </a:prstGeom>
        </p:spPr>
      </p:pic>
      <p:grpSp>
        <p:nvGrpSpPr>
          <p:cNvPr id="9" name="Group 6">
            <a:extLst>
              <a:ext uri="{FF2B5EF4-FFF2-40B4-BE49-F238E27FC236}">
                <a16:creationId xmlns:a16="http://schemas.microsoft.com/office/drawing/2014/main" id="{ED09A716-F5FD-30AD-BA53-B5110DF9CEEE}"/>
              </a:ext>
            </a:extLst>
          </p:cNvPr>
          <p:cNvGrpSpPr/>
          <p:nvPr/>
        </p:nvGrpSpPr>
        <p:grpSpPr>
          <a:xfrm>
            <a:off x="552672" y="1325358"/>
            <a:ext cx="5347819" cy="2630034"/>
            <a:chOff x="-30164" y="-47625"/>
            <a:chExt cx="1548591" cy="761590"/>
          </a:xfrm>
        </p:grpSpPr>
        <p:sp>
          <p:nvSpPr>
            <p:cNvPr id="10" name="Freeform 7">
              <a:extLst>
                <a:ext uri="{FF2B5EF4-FFF2-40B4-BE49-F238E27FC236}">
                  <a16:creationId xmlns:a16="http://schemas.microsoft.com/office/drawing/2014/main" id="{6A1020B1-E8B3-2D26-3C61-328C79130C0D}"/>
                </a:ext>
              </a:extLst>
            </p:cNvPr>
            <p:cNvSpPr/>
            <p:nvPr/>
          </p:nvSpPr>
          <p:spPr>
            <a:xfrm>
              <a:off x="-30164" y="0"/>
              <a:ext cx="1548591" cy="713965"/>
            </a:xfrm>
            <a:custGeom>
              <a:avLst/>
              <a:gdLst/>
              <a:ahLst/>
              <a:cxnLst/>
              <a:rect l="l" t="t" r="r" b="b"/>
              <a:pathLst>
                <a:path w="1223699" h="713965">
                  <a:moveTo>
                    <a:pt x="0" y="0"/>
                  </a:moveTo>
                  <a:lnTo>
                    <a:pt x="1223699" y="0"/>
                  </a:lnTo>
                  <a:lnTo>
                    <a:pt x="1223699" y="713965"/>
                  </a:lnTo>
                  <a:lnTo>
                    <a:pt x="0" y="713965"/>
                  </a:lnTo>
                  <a:close/>
                </a:path>
              </a:pathLst>
            </a:custGeom>
            <a:solidFill>
              <a:srgbClr val="FFFFFF"/>
            </a:solidFill>
          </p:spPr>
          <p:txBody>
            <a:bodyPr/>
            <a:lstStyle/>
            <a:p>
              <a:endParaRPr lang="en-US"/>
            </a:p>
          </p:txBody>
        </p:sp>
        <p:sp>
          <p:nvSpPr>
            <p:cNvPr id="11" name="TextBox 8">
              <a:extLst>
                <a:ext uri="{FF2B5EF4-FFF2-40B4-BE49-F238E27FC236}">
                  <a16:creationId xmlns:a16="http://schemas.microsoft.com/office/drawing/2014/main" id="{2F1C3D6B-7CF9-2BD5-8B36-9878D3FBC36D}"/>
                </a:ext>
              </a:extLst>
            </p:cNvPr>
            <p:cNvSpPr txBox="1"/>
            <p:nvPr/>
          </p:nvSpPr>
          <p:spPr>
            <a:xfrm>
              <a:off x="0" y="-47625"/>
              <a:ext cx="1223699" cy="761589"/>
            </a:xfrm>
            <a:prstGeom prst="rect">
              <a:avLst/>
            </a:prstGeom>
          </p:spPr>
          <p:txBody>
            <a:bodyPr lIns="50800" tIns="50800" rIns="50800" bIns="50800" rtlCol="0" anchor="ctr"/>
            <a:lstStyle/>
            <a:p>
              <a:pPr algn="ctr">
                <a:lnSpc>
                  <a:spcPts val="2239"/>
                </a:lnSpc>
              </a:pPr>
              <a:endParaRPr/>
            </a:p>
          </p:txBody>
        </p:sp>
      </p:grpSp>
      <p:grpSp>
        <p:nvGrpSpPr>
          <p:cNvPr id="12" name="Group 9">
            <a:extLst>
              <a:ext uri="{FF2B5EF4-FFF2-40B4-BE49-F238E27FC236}">
                <a16:creationId xmlns:a16="http://schemas.microsoft.com/office/drawing/2014/main" id="{AE32C22C-3FDB-2396-2943-AFA12977BDA2}"/>
              </a:ext>
            </a:extLst>
          </p:cNvPr>
          <p:cNvGrpSpPr/>
          <p:nvPr/>
        </p:nvGrpSpPr>
        <p:grpSpPr>
          <a:xfrm>
            <a:off x="793587" y="1098363"/>
            <a:ext cx="4820890" cy="773873"/>
            <a:chOff x="-117556" y="-72266"/>
            <a:chExt cx="1991689" cy="319716"/>
          </a:xfrm>
        </p:grpSpPr>
        <p:sp>
          <p:nvSpPr>
            <p:cNvPr id="13" name="Freeform 10">
              <a:extLst>
                <a:ext uri="{FF2B5EF4-FFF2-40B4-BE49-F238E27FC236}">
                  <a16:creationId xmlns:a16="http://schemas.microsoft.com/office/drawing/2014/main" id="{DD5D5B45-D48F-CBC2-FAE6-3C32D4CA4A54}"/>
                </a:ext>
              </a:extLst>
            </p:cNvPr>
            <p:cNvSpPr/>
            <p:nvPr/>
          </p:nvSpPr>
          <p:spPr>
            <a:xfrm>
              <a:off x="-117556" y="-72266"/>
              <a:ext cx="1991689" cy="319716"/>
            </a:xfrm>
            <a:custGeom>
              <a:avLst/>
              <a:gdLst/>
              <a:ahLst/>
              <a:cxnLst/>
              <a:rect l="l" t="t" r="r" b="b"/>
              <a:pathLst>
                <a:path w="736235" h="178921">
                  <a:moveTo>
                    <a:pt x="0" y="0"/>
                  </a:moveTo>
                  <a:lnTo>
                    <a:pt x="736235" y="0"/>
                  </a:lnTo>
                  <a:lnTo>
                    <a:pt x="736235" y="178921"/>
                  </a:lnTo>
                  <a:lnTo>
                    <a:pt x="0" y="178921"/>
                  </a:lnTo>
                  <a:close/>
                </a:path>
              </a:pathLst>
            </a:custGeom>
            <a:solidFill>
              <a:srgbClr val="E8ECF8"/>
            </a:solidFill>
            <a:ln cap="sq">
              <a:noFill/>
              <a:prstDash val="solid"/>
              <a:miter/>
            </a:ln>
          </p:spPr>
          <p:txBody>
            <a:bodyPr/>
            <a:lstStyle/>
            <a:p>
              <a:endParaRPr lang="en-US"/>
            </a:p>
          </p:txBody>
        </p:sp>
        <p:sp>
          <p:nvSpPr>
            <p:cNvPr id="14" name="TextBox 11">
              <a:extLst>
                <a:ext uri="{FF2B5EF4-FFF2-40B4-BE49-F238E27FC236}">
                  <a16:creationId xmlns:a16="http://schemas.microsoft.com/office/drawing/2014/main" id="{D4602096-BB2A-D06A-F2F9-A1B85FB7B21D}"/>
                </a:ext>
              </a:extLst>
            </p:cNvPr>
            <p:cNvSpPr txBox="1"/>
            <p:nvPr/>
          </p:nvSpPr>
          <p:spPr>
            <a:xfrm>
              <a:off x="0" y="-66675"/>
              <a:ext cx="736235" cy="245596"/>
            </a:xfrm>
            <a:prstGeom prst="rect">
              <a:avLst/>
            </a:prstGeom>
          </p:spPr>
          <p:txBody>
            <a:bodyPr lIns="50800" tIns="50800" rIns="50800" bIns="50800" rtlCol="0" anchor="ctr"/>
            <a:lstStyle/>
            <a:p>
              <a:pPr marL="0" lvl="0" indent="0" algn="ctr">
                <a:lnSpc>
                  <a:spcPts val="3500"/>
                </a:lnSpc>
                <a:spcBef>
                  <a:spcPct val="0"/>
                </a:spcBef>
              </a:pPr>
              <a:endParaRPr/>
            </a:p>
          </p:txBody>
        </p:sp>
      </p:grpSp>
      <p:sp>
        <p:nvSpPr>
          <p:cNvPr id="16" name="Freeform 13">
            <a:extLst>
              <a:ext uri="{FF2B5EF4-FFF2-40B4-BE49-F238E27FC236}">
                <a16:creationId xmlns:a16="http://schemas.microsoft.com/office/drawing/2014/main" id="{E92715B5-E2D3-4776-93F0-B360B5A59553}"/>
              </a:ext>
            </a:extLst>
          </p:cNvPr>
          <p:cNvSpPr/>
          <p:nvPr/>
        </p:nvSpPr>
        <p:spPr>
          <a:xfrm>
            <a:off x="1783618" y="199"/>
            <a:ext cx="1032349" cy="451764"/>
          </a:xfrm>
          <a:custGeom>
            <a:avLst/>
            <a:gdLst/>
            <a:ahLst/>
            <a:cxnLst/>
            <a:rect l="l" t="t" r="r" b="b"/>
            <a:pathLst>
              <a:path w="2102123" h="919905">
                <a:moveTo>
                  <a:pt x="0" y="0"/>
                </a:moveTo>
                <a:lnTo>
                  <a:pt x="2102123" y="0"/>
                </a:lnTo>
                <a:lnTo>
                  <a:pt x="2102123" y="919905"/>
                </a:lnTo>
                <a:lnTo>
                  <a:pt x="0" y="919905"/>
                </a:lnTo>
                <a:lnTo>
                  <a:pt x="0" y="0"/>
                </a:lnTo>
                <a:close/>
              </a:path>
            </a:pathLst>
          </a:custGeom>
          <a:blipFill dpi="0" rotWithShape="1">
            <a:blip r:embed="rId4">
              <a:alphaModFix amt="32000"/>
              <a:extLst>
                <a:ext uri="{96DAC541-7B7A-43D3-8B79-37D633B846F1}">
                  <asvg:svgBlip xmlns:asvg="http://schemas.microsoft.com/office/drawing/2016/SVG/main" r:embed="rId5"/>
                </a:ext>
              </a:extLst>
            </a:blip>
            <a:srcRect/>
            <a:stretch>
              <a:fillRect t="-106728" r="-65303"/>
            </a:stretch>
          </a:blipFill>
        </p:spPr>
        <p:txBody>
          <a:bodyPr/>
          <a:lstStyle/>
          <a:p>
            <a:endParaRPr lang="en-US"/>
          </a:p>
        </p:txBody>
      </p:sp>
      <p:sp>
        <p:nvSpPr>
          <p:cNvPr id="17" name="Freeform 14">
            <a:extLst>
              <a:ext uri="{FF2B5EF4-FFF2-40B4-BE49-F238E27FC236}">
                <a16:creationId xmlns:a16="http://schemas.microsoft.com/office/drawing/2014/main" id="{E93B0532-3834-38EB-306B-BB126F538A06}"/>
              </a:ext>
            </a:extLst>
          </p:cNvPr>
          <p:cNvSpPr/>
          <p:nvPr/>
        </p:nvSpPr>
        <p:spPr>
          <a:xfrm>
            <a:off x="151647" y="93093"/>
            <a:ext cx="770970" cy="773872"/>
          </a:xfrm>
          <a:custGeom>
            <a:avLst/>
            <a:gdLst/>
            <a:ahLst/>
            <a:cxnLst/>
            <a:rect l="l" t="t" r="r" b="b"/>
            <a:pathLst>
              <a:path w="1569889" h="1575798">
                <a:moveTo>
                  <a:pt x="0" y="0"/>
                </a:moveTo>
                <a:lnTo>
                  <a:pt x="1569889" y="0"/>
                </a:lnTo>
                <a:lnTo>
                  <a:pt x="1569889" y="1575798"/>
                </a:lnTo>
                <a:lnTo>
                  <a:pt x="0" y="1575798"/>
                </a:lnTo>
                <a:lnTo>
                  <a:pt x="0" y="0"/>
                </a:lnTo>
                <a:close/>
              </a:path>
            </a:pathLst>
          </a:custGeom>
          <a:blipFill dpi="0" rotWithShape="1">
            <a:blip r:embed="rId6">
              <a:alphaModFix amt="30000"/>
              <a:extLst>
                <a:ext uri="{96DAC541-7B7A-43D3-8B79-37D633B846F1}">
                  <asvg:svgBlip xmlns:asvg="http://schemas.microsoft.com/office/drawing/2016/SVG/main" r:embed="rId7"/>
                </a:ext>
              </a:extLst>
            </a:blip>
            <a:srcRect/>
            <a:stretch>
              <a:fillRect/>
            </a:stretch>
          </a:blipFill>
        </p:spPr>
        <p:txBody>
          <a:bodyPr/>
          <a:lstStyle/>
          <a:p>
            <a:endParaRPr lang="en-US"/>
          </a:p>
        </p:txBody>
      </p:sp>
      <p:sp>
        <p:nvSpPr>
          <p:cNvPr id="35" name="TextBox 34">
            <a:extLst>
              <a:ext uri="{FF2B5EF4-FFF2-40B4-BE49-F238E27FC236}">
                <a16:creationId xmlns:a16="http://schemas.microsoft.com/office/drawing/2014/main" id="{B1520DAD-F8CC-E505-163A-1A40C1FCC226}"/>
              </a:ext>
            </a:extLst>
          </p:cNvPr>
          <p:cNvSpPr txBox="1"/>
          <p:nvPr/>
        </p:nvSpPr>
        <p:spPr>
          <a:xfrm>
            <a:off x="793587" y="2065201"/>
            <a:ext cx="4089105" cy="954107"/>
          </a:xfrm>
          <a:prstGeom prst="rect">
            <a:avLst/>
          </a:prstGeom>
          <a:noFill/>
        </p:spPr>
        <p:txBody>
          <a:bodyPr wrap="square" rtlCol="0">
            <a:spAutoFit/>
          </a:bodyPr>
          <a:lstStyle/>
          <a:p>
            <a:r>
              <a:rPr lang="en-US" sz="2800" b="1" dirty="0">
                <a:solidFill>
                  <a:schemeClr val="tx1"/>
                </a:solidFill>
              </a:rPr>
              <a:t>FINANCIAL PROFIT &amp; LOSS REPORT</a:t>
            </a:r>
            <a:endParaRPr lang="en-US" sz="2800" dirty="0">
              <a:solidFill>
                <a:schemeClr val="tx1"/>
              </a:solidFill>
            </a:endParaRPr>
          </a:p>
        </p:txBody>
      </p:sp>
      <p:pic>
        <p:nvPicPr>
          <p:cNvPr id="39" name="Picture 38" descr="A group of people looking at a computer  Description automatically generated">
            <a:extLst>
              <a:ext uri="{FF2B5EF4-FFF2-40B4-BE49-F238E27FC236}">
                <a16:creationId xmlns:a16="http://schemas.microsoft.com/office/drawing/2014/main" id="{18A248EA-6D70-BC00-C66F-B374210692E6}"/>
              </a:ext>
            </a:extLst>
          </p:cNvPr>
          <p:cNvPicPr>
            <a:picLocks noChangeAspect="1"/>
          </p:cNvPicPr>
          <p:nvPr/>
        </p:nvPicPr>
        <p:blipFill rotWithShape="1">
          <a:blip r:embed="rId8"/>
          <a:srcRect t="62443" r="30604" b="14243"/>
          <a:stretch/>
        </p:blipFill>
        <p:spPr>
          <a:xfrm>
            <a:off x="-8839" y="3956265"/>
            <a:ext cx="3569383" cy="1199146"/>
          </a:xfrm>
          <a:prstGeom prst="rect">
            <a:avLst/>
          </a:prstGeom>
        </p:spPr>
      </p:pic>
      <p:sp>
        <p:nvSpPr>
          <p:cNvPr id="40" name="Google Shape;70;p13">
            <a:extLst>
              <a:ext uri="{FF2B5EF4-FFF2-40B4-BE49-F238E27FC236}">
                <a16:creationId xmlns:a16="http://schemas.microsoft.com/office/drawing/2014/main" id="{574F20A4-E865-2423-673E-2D8E75BC50D9}"/>
              </a:ext>
            </a:extLst>
          </p:cNvPr>
          <p:cNvSpPr txBox="1"/>
          <p:nvPr/>
        </p:nvSpPr>
        <p:spPr>
          <a:xfrm>
            <a:off x="3705805" y="3971818"/>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dirty="0">
                <a:solidFill>
                  <a:schemeClr val="bg1"/>
                </a:solidFill>
                <a:latin typeface="Arial"/>
                <a:ea typeface="Arial"/>
                <a:cs typeface="Arial"/>
                <a:sym typeface="Arial"/>
              </a:rPr>
              <a:t>Prepared by</a:t>
            </a:r>
          </a:p>
        </p:txBody>
      </p:sp>
      <p:cxnSp>
        <p:nvCxnSpPr>
          <p:cNvPr id="42" name="Straight Connector 41">
            <a:extLst>
              <a:ext uri="{FF2B5EF4-FFF2-40B4-BE49-F238E27FC236}">
                <a16:creationId xmlns:a16="http://schemas.microsoft.com/office/drawing/2014/main" id="{DDA9C646-678B-4CA4-AAF5-5A0CA4DB2AC5}"/>
              </a:ext>
            </a:extLst>
          </p:cNvPr>
          <p:cNvCxnSpPr>
            <a:cxnSpLocks/>
          </p:cNvCxnSpPr>
          <p:nvPr/>
        </p:nvCxnSpPr>
        <p:spPr>
          <a:xfrm>
            <a:off x="3767827" y="4283706"/>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sp>
        <p:nvSpPr>
          <p:cNvPr id="44" name="Google Shape;70;p13">
            <a:extLst>
              <a:ext uri="{FF2B5EF4-FFF2-40B4-BE49-F238E27FC236}">
                <a16:creationId xmlns:a16="http://schemas.microsoft.com/office/drawing/2014/main" id="{43C0C02E-B24A-392F-8483-77C0267C88E1}"/>
              </a:ext>
            </a:extLst>
          </p:cNvPr>
          <p:cNvSpPr txBox="1"/>
          <p:nvPr/>
        </p:nvSpPr>
        <p:spPr>
          <a:xfrm>
            <a:off x="6609792" y="3971817"/>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dirty="0">
                <a:solidFill>
                  <a:schemeClr val="bg1"/>
                </a:solidFill>
              </a:rPr>
              <a:t>Guided</a:t>
            </a:r>
            <a:r>
              <a:rPr lang="en-US" sz="1200" b="0" i="0" u="none" strike="noStrike" cap="none" dirty="0">
                <a:solidFill>
                  <a:schemeClr val="bg1"/>
                </a:solidFill>
                <a:latin typeface="Arial"/>
                <a:ea typeface="Arial"/>
                <a:cs typeface="Arial"/>
                <a:sym typeface="Arial"/>
              </a:rPr>
              <a:t> by</a:t>
            </a:r>
          </a:p>
        </p:txBody>
      </p:sp>
      <p:cxnSp>
        <p:nvCxnSpPr>
          <p:cNvPr id="46" name="Straight Connector 45">
            <a:extLst>
              <a:ext uri="{FF2B5EF4-FFF2-40B4-BE49-F238E27FC236}">
                <a16:creationId xmlns:a16="http://schemas.microsoft.com/office/drawing/2014/main" id="{7C930180-14D0-979F-80DC-202E3B74AD60}"/>
              </a:ext>
            </a:extLst>
          </p:cNvPr>
          <p:cNvCxnSpPr>
            <a:cxnSpLocks/>
          </p:cNvCxnSpPr>
          <p:nvPr/>
        </p:nvCxnSpPr>
        <p:spPr>
          <a:xfrm>
            <a:off x="6609792" y="4280394"/>
            <a:ext cx="2074828" cy="13408"/>
          </a:xfrm>
          <a:prstGeom prst="line">
            <a:avLst/>
          </a:prstGeom>
          <a:ln w="3175">
            <a:solidFill>
              <a:srgbClr val="E5EEFF"/>
            </a:solidFill>
            <a:prstDash val="lgDashDotDot"/>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242FDAC4-AE27-C374-87FA-1488045722F0}"/>
              </a:ext>
            </a:extLst>
          </p:cNvPr>
          <p:cNvGrpSpPr/>
          <p:nvPr/>
        </p:nvGrpSpPr>
        <p:grpSpPr>
          <a:xfrm>
            <a:off x="1402805" y="1159739"/>
            <a:ext cx="3608846" cy="660460"/>
            <a:chOff x="1516338" y="1159739"/>
            <a:chExt cx="3608846" cy="660460"/>
          </a:xfrm>
        </p:grpSpPr>
        <p:cxnSp>
          <p:nvCxnSpPr>
            <p:cNvPr id="48" name="Straight Connector 47">
              <a:extLst>
                <a:ext uri="{FF2B5EF4-FFF2-40B4-BE49-F238E27FC236}">
                  <a16:creationId xmlns:a16="http://schemas.microsoft.com/office/drawing/2014/main" id="{E7602FD7-B850-30FC-6F11-B26765319CF5}"/>
                </a:ext>
              </a:extLst>
            </p:cNvPr>
            <p:cNvCxnSpPr>
              <a:cxnSpLocks/>
            </p:cNvCxnSpPr>
            <p:nvPr/>
          </p:nvCxnSpPr>
          <p:spPr>
            <a:xfrm>
              <a:off x="3969406"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49" name="Google Shape;110;p4" descr="A close up of a sign  Description automatically generated">
              <a:extLst>
                <a:ext uri="{FF2B5EF4-FFF2-40B4-BE49-F238E27FC236}">
                  <a16:creationId xmlns:a16="http://schemas.microsoft.com/office/drawing/2014/main" id="{321F3B6E-D5C9-7BFA-7BDB-50FF890BB654}"/>
                </a:ext>
              </a:extLst>
            </p:cNvPr>
            <p:cNvPicPr preferRelativeResize="0"/>
            <p:nvPr/>
          </p:nvPicPr>
          <p:blipFill rotWithShape="1">
            <a:blip r:embed="rId9">
              <a:alphaModFix/>
            </a:blip>
            <a:srcRect/>
            <a:stretch/>
          </p:blipFill>
          <p:spPr>
            <a:xfrm>
              <a:off x="4237873" y="1341787"/>
              <a:ext cx="887311" cy="296622"/>
            </a:xfrm>
            <a:prstGeom prst="rect">
              <a:avLst/>
            </a:prstGeom>
            <a:noFill/>
            <a:ln>
              <a:noFill/>
            </a:ln>
          </p:spPr>
        </p:pic>
        <p:pic>
          <p:nvPicPr>
            <p:cNvPr id="50" name="Picture 49">
              <a:extLst>
                <a:ext uri="{FF2B5EF4-FFF2-40B4-BE49-F238E27FC236}">
                  <a16:creationId xmlns:a16="http://schemas.microsoft.com/office/drawing/2014/main" id="{E97570DF-6F54-74D9-731F-612CF788DA56}"/>
                </a:ext>
              </a:extLst>
            </p:cNvPr>
            <p:cNvPicPr/>
            <p:nvPr/>
          </p:nvPicPr>
          <p:blipFill>
            <a:blip r:embed="rId10"/>
            <a:stretch/>
          </p:blipFill>
          <p:spPr>
            <a:xfrm>
              <a:off x="1516338" y="1351451"/>
              <a:ext cx="1069048" cy="277034"/>
            </a:xfrm>
            <a:prstGeom prst="rect">
              <a:avLst/>
            </a:prstGeom>
            <a:ln w="0">
              <a:noFill/>
            </a:ln>
          </p:spPr>
        </p:pic>
        <p:cxnSp>
          <p:nvCxnSpPr>
            <p:cNvPr id="51" name="Straight Connector 50">
              <a:extLst>
                <a:ext uri="{FF2B5EF4-FFF2-40B4-BE49-F238E27FC236}">
                  <a16:creationId xmlns:a16="http://schemas.microsoft.com/office/drawing/2014/main" id="{C2C4709E-5DC8-3087-4DFF-5FD21D1AA1BA}"/>
                </a:ext>
              </a:extLst>
            </p:cNvPr>
            <p:cNvCxnSpPr>
              <a:cxnSpLocks/>
            </p:cNvCxnSpPr>
            <p:nvPr/>
          </p:nvCxnSpPr>
          <p:spPr>
            <a:xfrm>
              <a:off x="2615873" y="1316016"/>
              <a:ext cx="0" cy="330321"/>
            </a:xfrm>
            <a:prstGeom prst="line">
              <a:avLst/>
            </a:prstGeom>
            <a:ln/>
          </p:spPr>
          <p:style>
            <a:lnRef idx="1">
              <a:schemeClr val="dk1"/>
            </a:lnRef>
            <a:fillRef idx="0">
              <a:schemeClr val="dk1"/>
            </a:fillRef>
            <a:effectRef idx="0">
              <a:schemeClr val="dk1"/>
            </a:effectRef>
            <a:fontRef idx="minor">
              <a:schemeClr val="tx1"/>
            </a:fontRef>
          </p:style>
        </p:cxnSp>
        <p:pic>
          <p:nvPicPr>
            <p:cNvPr id="52" name="Picture 51" descr="A logo with tools in a circle  Description automatically generated">
              <a:extLst>
                <a:ext uri="{FF2B5EF4-FFF2-40B4-BE49-F238E27FC236}">
                  <a16:creationId xmlns:a16="http://schemas.microsoft.com/office/drawing/2014/main" id="{D5514759-EB9F-E36E-1FFF-E3E7F1E44AE5}"/>
                </a:ext>
              </a:extLst>
            </p:cNvPr>
            <p:cNvPicPr>
              <a:picLocks noChangeAspect="1"/>
            </p:cNvPicPr>
            <p:nvPr/>
          </p:nvPicPr>
          <p:blipFill>
            <a:blip r:embed="rId11"/>
            <a:stretch>
              <a:fillRect/>
            </a:stretch>
          </p:blipFill>
          <p:spPr>
            <a:xfrm>
              <a:off x="2993928" y="1159739"/>
              <a:ext cx="658966" cy="660460"/>
            </a:xfrm>
            <a:prstGeom prst="rect">
              <a:avLst/>
            </a:prstGeom>
          </p:spPr>
        </p:pic>
      </p:grpSp>
      <p:sp>
        <p:nvSpPr>
          <p:cNvPr id="26" name="TextBox 25">
            <a:extLst>
              <a:ext uri="{FF2B5EF4-FFF2-40B4-BE49-F238E27FC236}">
                <a16:creationId xmlns:a16="http://schemas.microsoft.com/office/drawing/2014/main" id="{855FA840-994E-43F0-BDF0-94110D3C3292}"/>
              </a:ext>
            </a:extLst>
          </p:cNvPr>
          <p:cNvSpPr txBox="1"/>
          <p:nvPr/>
        </p:nvSpPr>
        <p:spPr>
          <a:xfrm>
            <a:off x="3705805" y="4306456"/>
            <a:ext cx="2168784" cy="846386"/>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fi-FI" sz="1100" dirty="0">
                <a:solidFill>
                  <a:schemeClr val="bg1"/>
                </a:solidFill>
              </a:rPr>
              <a:t>Nitin Kumar Balmiki </a:t>
            </a:r>
            <a:endParaRPr lang="en-US" dirty="0">
              <a:solidFill>
                <a:schemeClr val="bg1"/>
              </a:solidFill>
            </a:endParaRPr>
          </a:p>
          <a:p>
            <a:pPr marL="228600" indent="-228600">
              <a:spcAft>
                <a:spcPts val="200"/>
              </a:spcAft>
              <a:buClr>
                <a:schemeClr val="bg1"/>
              </a:buClr>
              <a:buAutoNum type="arabicPeriod"/>
            </a:pPr>
            <a:r>
              <a:rPr lang="fi-FI" sz="1100" dirty="0">
                <a:solidFill>
                  <a:schemeClr val="bg1"/>
                </a:solidFill>
              </a:rPr>
              <a:t>Sonal Kumari</a:t>
            </a:r>
          </a:p>
          <a:p>
            <a:pPr marL="228600" indent="-228600">
              <a:spcAft>
                <a:spcPts val="200"/>
              </a:spcAft>
              <a:buClr>
                <a:schemeClr val="bg1"/>
              </a:buClr>
              <a:buAutoNum type="arabicPeriod"/>
            </a:pPr>
            <a:r>
              <a:rPr lang="fi-FI" sz="1100" dirty="0">
                <a:solidFill>
                  <a:schemeClr val="bg1"/>
                </a:solidFill>
              </a:rPr>
              <a:t>Jyoti Shah</a:t>
            </a:r>
          </a:p>
          <a:p>
            <a:pPr marL="228600" indent="-228600">
              <a:spcAft>
                <a:spcPts val="200"/>
              </a:spcAft>
              <a:buClr>
                <a:schemeClr val="bg1"/>
              </a:buClr>
              <a:buAutoNum type="arabicPeriod"/>
            </a:pPr>
            <a:r>
              <a:rPr lang="fi-FI" sz="1100" dirty="0">
                <a:solidFill>
                  <a:schemeClr val="bg1"/>
                </a:solidFill>
              </a:rPr>
              <a:t>Manisha Kumari</a:t>
            </a:r>
          </a:p>
        </p:txBody>
      </p:sp>
      <p:sp>
        <p:nvSpPr>
          <p:cNvPr id="27" name="TextBox 26">
            <a:extLst>
              <a:ext uri="{FF2B5EF4-FFF2-40B4-BE49-F238E27FC236}">
                <a16:creationId xmlns:a16="http://schemas.microsoft.com/office/drawing/2014/main" id="{176B8610-77A2-4329-9F03-450D12703B9A}"/>
              </a:ext>
            </a:extLst>
          </p:cNvPr>
          <p:cNvSpPr txBox="1"/>
          <p:nvPr/>
        </p:nvSpPr>
        <p:spPr>
          <a:xfrm>
            <a:off x="6562814" y="4380193"/>
            <a:ext cx="2168784" cy="261610"/>
          </a:xfrm>
          <a:prstGeom prst="rect">
            <a:avLst/>
          </a:prstGeom>
          <a:noFill/>
        </p:spPr>
        <p:txBody>
          <a:bodyPr wrap="square" lIns="91440" tIns="45720" rIns="91440" bIns="45720" anchor="t">
            <a:spAutoFit/>
          </a:bodyPr>
          <a:lstStyle/>
          <a:p>
            <a:pPr marL="228600" indent="-228600">
              <a:spcAft>
                <a:spcPts val="200"/>
              </a:spcAft>
              <a:buClr>
                <a:schemeClr val="bg1"/>
              </a:buClr>
              <a:buAutoNum type="arabicPeriod"/>
            </a:pPr>
            <a:r>
              <a:rPr lang="en-US" sz="1100" dirty="0">
                <a:solidFill>
                  <a:schemeClr val="bg1"/>
                </a:solidFill>
              </a:rPr>
              <a:t>Saksham Mishra</a:t>
            </a:r>
            <a:endParaRPr lang="fi-FI" sz="11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lang="en-IN" sz="1600" b="1">
                <a:solidFill>
                  <a:srgbClr val="213163"/>
                </a:solidFill>
              </a:rPr>
              <a:t>Executive Summary</a:t>
            </a:r>
            <a:endParaRPr lang="en-IN" sz="1600">
              <a:solidFill>
                <a:srgbClr val="213163"/>
              </a:solidFill>
            </a:endParaRPr>
          </a:p>
        </p:txBody>
      </p:sp>
      <p:sp>
        <p:nvSpPr>
          <p:cNvPr id="6" name="TextBox 5">
            <a:extLst>
              <a:ext uri="{FF2B5EF4-FFF2-40B4-BE49-F238E27FC236}">
                <a16:creationId xmlns:a16="http://schemas.microsoft.com/office/drawing/2014/main" id="{4E2510F8-EE68-4DB7-5481-38EDBC28EBB2}"/>
              </a:ext>
            </a:extLst>
          </p:cNvPr>
          <p:cNvSpPr txBox="1"/>
          <p:nvPr/>
        </p:nvSpPr>
        <p:spPr>
          <a:xfrm>
            <a:off x="134414" y="1133132"/>
            <a:ext cx="4413733" cy="3539430"/>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dirty="0"/>
              <a:t>This Financial Profit &amp; Loss Report presents a comprehensive overview of the organization's financial performance for FY 2024–2025. It covers total revenue, cost of goods sold, gross profit, operating expenses, and net profit across all business units and product lines.</a:t>
            </a:r>
          </a:p>
          <a:p>
            <a:endParaRPr lang="en-US" dirty="0"/>
          </a:p>
          <a:p>
            <a:pPr marL="285750" indent="-285750">
              <a:buFont typeface="Arial" panose="020B0604020202020204" pitchFamily="34" charset="0"/>
              <a:buChar char="•"/>
            </a:pPr>
            <a:r>
              <a:rPr lang="en-US" dirty="0"/>
              <a:t>The report analyzes revenue streams to identify top-performing products and high-margin categories. It benchmarks actual results against budgeted targets to evaluate variance and operational efficiency. Additionally, the report examines the impact of cost fluctuations on gross margins and provides insights into EBITDA, net income trends, and year-over-year growth to guide strategic financial decisions.</a:t>
            </a:r>
          </a:p>
        </p:txBody>
      </p:sp>
      <p:pic>
        <p:nvPicPr>
          <p:cNvPr id="7" name="Picture 6" descr="A cartoon of a person holding a book  Description automatically generated">
            <a:extLst>
              <a:ext uri="{FF2B5EF4-FFF2-40B4-BE49-F238E27FC236}">
                <a16:creationId xmlns:a16="http://schemas.microsoft.com/office/drawing/2014/main" id="{27276879-51B0-342E-6B09-4EA7C9230A70}"/>
              </a:ext>
            </a:extLst>
          </p:cNvPr>
          <p:cNvPicPr>
            <a:picLocks noChangeAspect="1"/>
          </p:cNvPicPr>
          <p:nvPr/>
        </p:nvPicPr>
        <p:blipFill rotWithShape="1">
          <a:blip r:embed="rId3"/>
          <a:srcRect b="41075"/>
          <a:stretch/>
        </p:blipFill>
        <p:spPr>
          <a:xfrm>
            <a:off x="5112433" y="1147011"/>
            <a:ext cx="2351445" cy="3521243"/>
          </a:xfrm>
          <a:prstGeom prst="rect">
            <a:avLst/>
          </a:prstGeom>
        </p:spPr>
      </p:pic>
      <p:pic>
        <p:nvPicPr>
          <p:cNvPr id="8" name="Picture 7" descr="A blue question mark on a black background  Description automatically generated">
            <a:extLst>
              <a:ext uri="{FF2B5EF4-FFF2-40B4-BE49-F238E27FC236}">
                <a16:creationId xmlns:a16="http://schemas.microsoft.com/office/drawing/2014/main" id="{AEF795B9-59D0-E5F1-B10D-DC58713F5459}"/>
              </a:ext>
            </a:extLst>
          </p:cNvPr>
          <p:cNvPicPr>
            <a:picLocks noChangeAspect="1"/>
          </p:cNvPicPr>
          <p:nvPr/>
        </p:nvPicPr>
        <p:blipFill>
          <a:blip r:embed="rId4"/>
          <a:stretch>
            <a:fillRect/>
          </a:stretch>
        </p:blipFill>
        <p:spPr>
          <a:xfrm>
            <a:off x="6575258" y="2627897"/>
            <a:ext cx="2260934" cy="2260934"/>
          </a:xfrm>
          <a:prstGeom prst="rect">
            <a:avLst/>
          </a:prstGeom>
        </p:spPr>
      </p:pic>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lang="en-US" sz="1600" b="1">
                <a:solidFill>
                  <a:srgbClr val="002060"/>
                </a:solidFill>
                <a:latin typeface="Arial"/>
                <a:ea typeface="Arial"/>
                <a:cs typeface="Arial"/>
                <a:sym typeface="Arial"/>
              </a:rPr>
              <a:t>Revenue &amp; Gross Profit Analysis</a:t>
            </a:r>
            <a:endParaRPr lang="en-IN" sz="1600">
              <a:solidFill>
                <a:srgbClr val="213163"/>
              </a:solidFill>
            </a:endParaRPr>
          </a:p>
        </p:txBody>
      </p:sp>
      <p:grpSp>
        <p:nvGrpSpPr>
          <p:cNvPr id="25" name="Group 24">
            <a:extLst>
              <a:ext uri="{FF2B5EF4-FFF2-40B4-BE49-F238E27FC236}">
                <a16:creationId xmlns:a16="http://schemas.microsoft.com/office/drawing/2014/main" id="{D00F2964-0D4F-F880-A09E-E7A62DA0D8AD}"/>
              </a:ext>
            </a:extLst>
          </p:cNvPr>
          <p:cNvGrpSpPr/>
          <p:nvPr/>
        </p:nvGrpSpPr>
        <p:grpSpPr>
          <a:xfrm>
            <a:off x="4957011" y="1136519"/>
            <a:ext cx="4296704" cy="3560273"/>
            <a:chOff x="4957011" y="1136519"/>
            <a:chExt cx="4296704" cy="3560273"/>
          </a:xfrm>
        </p:grpSpPr>
        <p:grpSp>
          <p:nvGrpSpPr>
            <p:cNvPr id="14" name="Group 13">
              <a:extLst>
                <a:ext uri="{FF2B5EF4-FFF2-40B4-BE49-F238E27FC236}">
                  <a16:creationId xmlns:a16="http://schemas.microsoft.com/office/drawing/2014/main" id="{4CBDDE1E-3117-B64C-BB4F-1DE4EAC4051A}"/>
                </a:ext>
              </a:extLst>
            </p:cNvPr>
            <p:cNvGrpSpPr/>
            <p:nvPr/>
          </p:nvGrpSpPr>
          <p:grpSpPr>
            <a:xfrm>
              <a:off x="5693442" y="1136519"/>
              <a:ext cx="3560273" cy="3560273"/>
              <a:chOff x="4955715" y="1142768"/>
              <a:chExt cx="3560273" cy="3560273"/>
            </a:xfrm>
          </p:grpSpPr>
          <p:pic>
            <p:nvPicPr>
              <p:cNvPr id="15" name="Graphic 2" descr="Building with solid fill">
                <a:extLst>
                  <a:ext uri="{FF2B5EF4-FFF2-40B4-BE49-F238E27FC236}">
                    <a16:creationId xmlns:a16="http://schemas.microsoft.com/office/drawing/2014/main" id="{EB410575-724F-E860-628D-9E31E8990C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5715" y="1142768"/>
                <a:ext cx="3560273" cy="3560273"/>
              </a:xfrm>
              <a:prstGeom prst="rect">
                <a:avLst/>
              </a:prstGeom>
            </p:spPr>
          </p:pic>
          <p:pic>
            <p:nvPicPr>
              <p:cNvPr id="16" name="Picture 15" descr="A green leafy plant with black background  Description automatically generated">
                <a:extLst>
                  <a:ext uri="{FF2B5EF4-FFF2-40B4-BE49-F238E27FC236}">
                    <a16:creationId xmlns:a16="http://schemas.microsoft.com/office/drawing/2014/main" id="{FA96A03D-8AC6-DF53-33DC-7FEC5CC4951F}"/>
                  </a:ext>
                </a:extLst>
              </p:cNvPr>
              <p:cNvPicPr>
                <a:picLocks noChangeAspect="1"/>
              </p:cNvPicPr>
              <p:nvPr/>
            </p:nvPicPr>
            <p:blipFill>
              <a:blip r:embed="rId5"/>
              <a:stretch>
                <a:fillRect/>
              </a:stretch>
            </p:blipFill>
            <p:spPr>
              <a:xfrm>
                <a:off x="7432037" y="4000732"/>
                <a:ext cx="463488" cy="463488"/>
              </a:xfrm>
              <a:prstGeom prst="rect">
                <a:avLst/>
              </a:prstGeom>
            </p:spPr>
          </p:pic>
          <p:pic>
            <p:nvPicPr>
              <p:cNvPr id="17" name="Picture 16" descr="A green leafy plant with black background  Description automatically generated">
                <a:extLst>
                  <a:ext uri="{FF2B5EF4-FFF2-40B4-BE49-F238E27FC236}">
                    <a16:creationId xmlns:a16="http://schemas.microsoft.com/office/drawing/2014/main" id="{0C87976D-9ED4-94B4-E12D-0E81648990E7}"/>
                  </a:ext>
                </a:extLst>
              </p:cNvPr>
              <p:cNvPicPr>
                <a:picLocks noChangeAspect="1"/>
              </p:cNvPicPr>
              <p:nvPr/>
            </p:nvPicPr>
            <p:blipFill>
              <a:blip r:embed="rId5"/>
              <a:stretch>
                <a:fillRect/>
              </a:stretch>
            </p:blipFill>
            <p:spPr>
              <a:xfrm>
                <a:off x="5474975" y="3992712"/>
                <a:ext cx="463488" cy="463488"/>
              </a:xfrm>
              <a:prstGeom prst="rect">
                <a:avLst/>
              </a:prstGeom>
            </p:spPr>
          </p:pic>
          <p:pic>
            <p:nvPicPr>
              <p:cNvPr id="18" name="Picture 17" descr="A green leafy plant with black background  Description automatically generated">
                <a:extLst>
                  <a:ext uri="{FF2B5EF4-FFF2-40B4-BE49-F238E27FC236}">
                    <a16:creationId xmlns:a16="http://schemas.microsoft.com/office/drawing/2014/main" id="{162C682B-F14F-E745-A95B-324697E9C870}"/>
                  </a:ext>
                </a:extLst>
              </p:cNvPr>
              <p:cNvPicPr>
                <a:picLocks noChangeAspect="1"/>
              </p:cNvPicPr>
              <p:nvPr/>
            </p:nvPicPr>
            <p:blipFill>
              <a:blip r:embed="rId5"/>
              <a:stretch>
                <a:fillRect/>
              </a:stretch>
            </p:blipFill>
            <p:spPr>
              <a:xfrm>
                <a:off x="5926171" y="3992712"/>
                <a:ext cx="463488" cy="463488"/>
              </a:xfrm>
              <a:prstGeom prst="rect">
                <a:avLst/>
              </a:prstGeom>
            </p:spPr>
          </p:pic>
          <p:pic>
            <p:nvPicPr>
              <p:cNvPr id="19" name="Picture 18" descr="A green leafy plant with black background  Description automatically generated">
                <a:extLst>
                  <a:ext uri="{FF2B5EF4-FFF2-40B4-BE49-F238E27FC236}">
                    <a16:creationId xmlns:a16="http://schemas.microsoft.com/office/drawing/2014/main" id="{B8208A31-28D7-AFA6-DB42-EB7415CD5BD7}"/>
                  </a:ext>
                </a:extLst>
              </p:cNvPr>
              <p:cNvPicPr>
                <a:picLocks noChangeAspect="1"/>
              </p:cNvPicPr>
              <p:nvPr/>
            </p:nvPicPr>
            <p:blipFill>
              <a:blip r:embed="rId5"/>
              <a:stretch>
                <a:fillRect/>
              </a:stretch>
            </p:blipFill>
            <p:spPr>
              <a:xfrm>
                <a:off x="6389659" y="3992712"/>
                <a:ext cx="463488" cy="463488"/>
              </a:xfrm>
              <a:prstGeom prst="rect">
                <a:avLst/>
              </a:prstGeom>
            </p:spPr>
          </p:pic>
          <p:pic>
            <p:nvPicPr>
              <p:cNvPr id="20" name="Picture 19" descr="A green leafy plant with black background  Description automatically generated">
                <a:extLst>
                  <a:ext uri="{FF2B5EF4-FFF2-40B4-BE49-F238E27FC236}">
                    <a16:creationId xmlns:a16="http://schemas.microsoft.com/office/drawing/2014/main" id="{921D4573-E89C-F978-B60F-75ABAB718726}"/>
                  </a:ext>
                </a:extLst>
              </p:cNvPr>
              <p:cNvPicPr>
                <a:picLocks noChangeAspect="1"/>
              </p:cNvPicPr>
              <p:nvPr/>
            </p:nvPicPr>
            <p:blipFill>
              <a:blip r:embed="rId5"/>
              <a:stretch>
                <a:fillRect/>
              </a:stretch>
            </p:blipFill>
            <p:spPr>
              <a:xfrm>
                <a:off x="6807588" y="3992712"/>
                <a:ext cx="463488" cy="463488"/>
              </a:xfrm>
              <a:prstGeom prst="rect">
                <a:avLst/>
              </a:prstGeom>
            </p:spPr>
          </p:pic>
          <p:pic>
            <p:nvPicPr>
              <p:cNvPr id="21" name="Picture 20" descr="A green leafy plant with black background  Description automatically generated">
                <a:extLst>
                  <a:ext uri="{FF2B5EF4-FFF2-40B4-BE49-F238E27FC236}">
                    <a16:creationId xmlns:a16="http://schemas.microsoft.com/office/drawing/2014/main" id="{DD649A93-C91B-E486-EA5E-C080F29D6825}"/>
                  </a:ext>
                </a:extLst>
              </p:cNvPr>
              <p:cNvPicPr>
                <a:picLocks noChangeAspect="1"/>
              </p:cNvPicPr>
              <p:nvPr/>
            </p:nvPicPr>
            <p:blipFill>
              <a:blip r:embed="rId5"/>
              <a:stretch>
                <a:fillRect/>
              </a:stretch>
            </p:blipFill>
            <p:spPr>
              <a:xfrm>
                <a:off x="7119213" y="3992712"/>
                <a:ext cx="463488" cy="463488"/>
              </a:xfrm>
              <a:prstGeom prst="rect">
                <a:avLst/>
              </a:prstGeom>
            </p:spPr>
          </p:pic>
        </p:grpSp>
        <p:sp>
          <p:nvSpPr>
            <p:cNvPr id="22" name="Oval 21">
              <a:extLst>
                <a:ext uri="{FF2B5EF4-FFF2-40B4-BE49-F238E27FC236}">
                  <a16:creationId xmlns:a16="http://schemas.microsoft.com/office/drawing/2014/main" id="{560C6BA6-5F2D-8F9B-162A-E34B8A491099}"/>
                </a:ext>
              </a:extLst>
            </p:cNvPr>
            <p:cNvSpPr/>
            <p:nvPr/>
          </p:nvSpPr>
          <p:spPr>
            <a:xfrm>
              <a:off x="4957011" y="1389708"/>
              <a:ext cx="2274970" cy="227497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oogle Shape;134;p23">
              <a:extLst>
                <a:ext uri="{FF2B5EF4-FFF2-40B4-BE49-F238E27FC236}">
                  <a16:creationId xmlns:a16="http://schemas.microsoft.com/office/drawing/2014/main" id="{3382BCA9-3D11-62CB-321B-240BFBF0E00A}"/>
                </a:ext>
              </a:extLst>
            </p:cNvPr>
            <p:cNvSpPr txBox="1"/>
            <p:nvPr/>
          </p:nvSpPr>
          <p:spPr>
            <a:xfrm>
              <a:off x="5156936" y="1429477"/>
              <a:ext cx="1875120" cy="2195432"/>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3000" b="1" i="0" u="none" strike="noStrike" cap="none">
                  <a:solidFill>
                    <a:schemeClr val="bg1"/>
                  </a:solidFill>
                  <a:latin typeface="Arial"/>
                  <a:ea typeface="Arial"/>
                  <a:cs typeface="Arial"/>
                  <a:sym typeface="Arial"/>
                </a:rPr>
                <a:t>P&amp;L</a:t>
              </a:r>
            </a:p>
          </p:txBody>
        </p:sp>
        <p:sp>
          <p:nvSpPr>
            <p:cNvPr id="24" name="Google Shape;134;p23">
              <a:extLst>
                <a:ext uri="{FF2B5EF4-FFF2-40B4-BE49-F238E27FC236}">
                  <a16:creationId xmlns:a16="http://schemas.microsoft.com/office/drawing/2014/main" id="{31ADB365-F098-90BE-1170-C0F8C08A2CF1}"/>
                </a:ext>
              </a:extLst>
            </p:cNvPr>
            <p:cNvSpPr txBox="1"/>
            <p:nvPr/>
          </p:nvSpPr>
          <p:spPr>
            <a:xfrm>
              <a:off x="6997972" y="1375380"/>
              <a:ext cx="974956" cy="410328"/>
            </a:xfrm>
            <a:prstGeom prst="rect">
              <a:avLst/>
            </a:prstGeom>
            <a:noFill/>
            <a:ln>
              <a:noFill/>
            </a:ln>
          </p:spPr>
          <p:txBody>
            <a:bodyPr spcFirstLastPara="1" wrap="square" lIns="91425" tIns="45700" rIns="91425" bIns="45700" anchor="t" anchorCtr="0">
              <a:spAutoFit/>
            </a:bodyPr>
            <a:lstStyle/>
            <a:p>
              <a:pPr marR="0" lvl="0" rtl="0">
                <a:lnSpc>
                  <a:spcPct val="100000"/>
                </a:lnSpc>
                <a:spcBef>
                  <a:spcPts val="0"/>
                </a:spcBef>
                <a:spcAft>
                  <a:spcPts val="800"/>
                </a:spcAft>
              </a:pPr>
              <a:r>
                <a:rPr lang="en-US" sz="1400" b="1" i="0" u="none" strike="noStrike" cap="none">
                  <a:solidFill>
                    <a:schemeClr val="bg1"/>
                  </a:solidFill>
                  <a:latin typeface="Arial"/>
                  <a:ea typeface="Arial"/>
                  <a:cs typeface="Arial"/>
                  <a:sym typeface="Arial"/>
                </a:rPr>
                <a:t>REPORT</a:t>
              </a:r>
            </a:p>
          </p:txBody>
        </p:sp>
      </p:grpSp>
      <p:sp>
        <p:nvSpPr>
          <p:cNvPr id="26" name="Google Shape;134;p23">
            <a:extLst>
              <a:ext uri="{FF2B5EF4-FFF2-40B4-BE49-F238E27FC236}">
                <a16:creationId xmlns:a16="http://schemas.microsoft.com/office/drawing/2014/main" id="{65A026A1-4157-D47A-7261-C367C2DC72CF}"/>
              </a:ext>
            </a:extLst>
          </p:cNvPr>
          <p:cNvSpPr txBox="1"/>
          <p:nvPr/>
        </p:nvSpPr>
        <p:spPr>
          <a:xfrm>
            <a:off x="131949" y="1142768"/>
            <a:ext cx="4440051" cy="2133877"/>
          </a:xfrm>
          <a:prstGeom prst="rect">
            <a:avLst/>
          </a:prstGeom>
          <a:noFill/>
          <a:ln>
            <a:noFill/>
          </a:ln>
        </p:spPr>
        <p:txBody>
          <a:bodyPr spcFirstLastPara="1" wrap="square" lIns="91425" tIns="45700" rIns="91425" bIns="45700" anchor="t" anchorCtr="0">
            <a:spAutoFit/>
          </a:bodyPr>
          <a:lstStyle/>
          <a:p>
            <a:pPr marL="173355" indent="-173355">
              <a:spcAft>
                <a:spcPts val="800"/>
              </a:spcAft>
              <a:buFont typeface="Arial" panose="020B0604020202020204" pitchFamily="34" charset="0"/>
              <a:buChar char="•"/>
            </a:pPr>
            <a:r>
              <a:rPr lang="en-US" sz="1400" i="0" u="none" strike="noStrike" cap="none" dirty="0">
                <a:solidFill>
                  <a:srgbClr val="000000"/>
                </a:solidFill>
                <a:latin typeface="Arial"/>
                <a:ea typeface="Arial"/>
                <a:cs typeface="Arial"/>
                <a:sym typeface="Arial"/>
              </a:rPr>
              <a:t>Total Revenue for FY 2024–25 reached </a:t>
            </a:r>
            <a:r>
              <a:rPr lang="en-US" dirty="0"/>
              <a:t>₹48.6 Crore, reflecting a 14% year-over-year growth. Cost of Goods Sold (COGS) stood at ₹29.1 Crore, yielding a Gross Profit of ₹19.5 Crore and a Gross Margin of 40.1%. Product Category A led revenue contribution at 38%, followed by Category B at 27%. The southern and western regions recorded the highest sales volumes, accounting for 62% of total revenue, underscoring strong regional demand and effective distribution channels.</a:t>
            </a:r>
          </a:p>
        </p:txBody>
      </p:sp>
    </p:spTree>
    <p:extLst>
      <p:ext uri="{BB962C8B-B14F-4D97-AF65-F5344CB8AC3E}">
        <p14:creationId xmlns:p14="http://schemas.microsoft.com/office/powerpoint/2010/main" val="297519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Google Shape;127;p22">
            <a:extLst>
              <a:ext uri="{FF2B5EF4-FFF2-40B4-BE49-F238E27FC236}">
                <a16:creationId xmlns:a16="http://schemas.microsoft.com/office/drawing/2014/main" id="{CC2ED9E3-05F2-5ECD-DD5B-3430C263D9B6}"/>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Key Financial Metrics</a:t>
            </a:r>
          </a:p>
        </p:txBody>
      </p:sp>
      <p:grpSp>
        <p:nvGrpSpPr>
          <p:cNvPr id="13" name="Group 12">
            <a:extLst>
              <a:ext uri="{FF2B5EF4-FFF2-40B4-BE49-F238E27FC236}">
                <a16:creationId xmlns:a16="http://schemas.microsoft.com/office/drawing/2014/main" id="{B5EF4296-6D6A-2195-AEDC-5739E9527820}"/>
              </a:ext>
            </a:extLst>
          </p:cNvPr>
          <p:cNvGrpSpPr/>
          <p:nvPr/>
        </p:nvGrpSpPr>
        <p:grpSpPr>
          <a:xfrm>
            <a:off x="1799924" y="1352550"/>
            <a:ext cx="5422232" cy="3199772"/>
            <a:chOff x="1159110" y="1292018"/>
            <a:chExt cx="5422232" cy="3199772"/>
          </a:xfrm>
        </p:grpSpPr>
        <p:sp>
          <p:nvSpPr>
            <p:cNvPr id="6" name="Oval 5">
              <a:extLst>
                <a:ext uri="{FF2B5EF4-FFF2-40B4-BE49-F238E27FC236}">
                  <a16:creationId xmlns:a16="http://schemas.microsoft.com/office/drawing/2014/main" id="{AA8EF506-DE96-236C-46F0-224868672ADF}"/>
                </a:ext>
              </a:extLst>
            </p:cNvPr>
            <p:cNvSpPr/>
            <p:nvPr/>
          </p:nvSpPr>
          <p:spPr>
            <a:xfrm>
              <a:off x="3217787" y="1292018"/>
              <a:ext cx="2826661" cy="282666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hlinkClick r:id="rId3"/>
              <a:extLst>
                <a:ext uri="{FF2B5EF4-FFF2-40B4-BE49-F238E27FC236}">
                  <a16:creationId xmlns:a16="http://schemas.microsoft.com/office/drawing/2014/main" id="{DED40980-3081-6659-4392-177BDDF9F096}"/>
                </a:ext>
              </a:extLst>
            </p:cNvPr>
            <p:cNvSpPr/>
            <p:nvPr/>
          </p:nvSpPr>
          <p:spPr>
            <a:xfrm>
              <a:off x="1159110" y="2630906"/>
              <a:ext cx="5422232" cy="1860884"/>
            </a:xfrm>
            <a:prstGeom prst="roundRect">
              <a:avLst>
                <a:gd name="adj" fmla="val 14943"/>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00A5BB1-3E0C-AD1B-4F66-76DA03418642}"/>
                </a:ext>
              </a:extLst>
            </p:cNvPr>
            <p:cNvSpPr txBox="1"/>
            <p:nvPr/>
          </p:nvSpPr>
          <p:spPr>
            <a:xfrm>
              <a:off x="1691508" y="3007350"/>
              <a:ext cx="4357437" cy="553998"/>
            </a:xfrm>
            <a:prstGeom prst="rect">
              <a:avLst/>
            </a:prstGeom>
            <a:noFill/>
          </p:spPr>
          <p:txBody>
            <a:bodyPr wrap="square">
              <a:spAutoFit/>
            </a:bodyPr>
            <a:lstStyle/>
            <a:p>
              <a:pPr algn="ctr"/>
              <a:r>
                <a:rPr lang="en-US" sz="3000" b="1" i="0" u="none" strike="noStrike" cap="none">
                  <a:solidFill>
                    <a:schemeClr val="bg1"/>
                  </a:solidFill>
                  <a:latin typeface="Arial"/>
                  <a:ea typeface="Arial"/>
                  <a:cs typeface="Arial"/>
                  <a:sym typeface="Arial"/>
                </a:rPr>
                <a:t>Dashboard Link </a:t>
              </a:r>
              <a:endParaRPr lang="en-US" sz="3000" b="1">
                <a:solidFill>
                  <a:schemeClr val="bg1"/>
                </a:solidFill>
              </a:endParaRPr>
            </a:p>
          </p:txBody>
        </p:sp>
        <p:sp>
          <p:nvSpPr>
            <p:cNvPr id="12" name="Rectangle 2">
              <a:extLst>
                <a:ext uri="{FF2B5EF4-FFF2-40B4-BE49-F238E27FC236}">
                  <a16:creationId xmlns:a16="http://schemas.microsoft.com/office/drawing/2014/main" id="{18516467-7CBC-2FFE-993C-F7C080FA7F0C}"/>
                </a:ext>
              </a:extLst>
            </p:cNvPr>
            <p:cNvSpPr>
              <a:spLocks noChangeArrowheads="1"/>
            </p:cNvSpPr>
            <p:nvPr/>
          </p:nvSpPr>
          <p:spPr bwMode="auto">
            <a:xfrm>
              <a:off x="1691508" y="3564763"/>
              <a:ext cx="4414617"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1050" dirty="0">
                  <a:solidFill>
                    <a:schemeClr val="bg1"/>
                  </a:solidFill>
                </a:rPr>
                <a:t>https://github.com/sonalkumari051/FINANCIAL-PROFIT-LOSS-REPORT/blob/main/FINANCIAL_PROFIT_%26_LOSS_REPORT_Sonal.pbix</a:t>
              </a:r>
              <a:endParaRPr lang="en-US" altLang="en-US" sz="1050" b="0" i="0" u="none" strike="noStrike" cap="none" normalizeH="0" baseline="0" dirty="0">
                <a:ln>
                  <a:noFill/>
                </a:ln>
                <a:solidFill>
                  <a:schemeClr val="bg1"/>
                </a:solidFill>
                <a:effectLst/>
                <a:latin typeface="Arial" panose="020B0604020202020204" pitchFamily="34" charset="0"/>
              </a:endParaRPr>
            </a:p>
          </p:txBody>
        </p:sp>
      </p:grpSp>
      <p:grpSp>
        <p:nvGrpSpPr>
          <p:cNvPr id="19" name="Group 18">
            <a:extLst>
              <a:ext uri="{FF2B5EF4-FFF2-40B4-BE49-F238E27FC236}">
                <a16:creationId xmlns:a16="http://schemas.microsoft.com/office/drawing/2014/main" id="{65058CC0-CC04-8036-24AE-51461F3C17DF}"/>
              </a:ext>
            </a:extLst>
          </p:cNvPr>
          <p:cNvGrpSpPr/>
          <p:nvPr/>
        </p:nvGrpSpPr>
        <p:grpSpPr>
          <a:xfrm>
            <a:off x="4393138" y="1229664"/>
            <a:ext cx="1757585" cy="1815552"/>
            <a:chOff x="686159" y="633457"/>
            <a:chExt cx="2849880" cy="2943873"/>
          </a:xfrm>
        </p:grpSpPr>
        <p:sp>
          <p:nvSpPr>
            <p:cNvPr id="18" name="Rectangle 17">
              <a:extLst>
                <a:ext uri="{FF2B5EF4-FFF2-40B4-BE49-F238E27FC236}">
                  <a16:creationId xmlns:a16="http://schemas.microsoft.com/office/drawing/2014/main" id="{1401590A-7F69-1C2D-2A3C-3BD68F2C27B2}"/>
                </a:ext>
              </a:extLst>
            </p:cNvPr>
            <p:cNvSpPr/>
            <p:nvPr/>
          </p:nvSpPr>
          <p:spPr>
            <a:xfrm>
              <a:off x="790438" y="1492457"/>
              <a:ext cx="2613660" cy="14935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erson on a computer screen  Description automatically generated">
              <a:extLst>
                <a:ext uri="{FF2B5EF4-FFF2-40B4-BE49-F238E27FC236}">
                  <a16:creationId xmlns:a16="http://schemas.microsoft.com/office/drawing/2014/main" id="{AEFB9C29-B9A9-F09E-AF9C-106FEC826A3A}"/>
                </a:ext>
              </a:extLst>
            </p:cNvPr>
            <p:cNvPicPr>
              <a:picLocks noChangeAspect="1"/>
            </p:cNvPicPr>
            <p:nvPr/>
          </p:nvPicPr>
          <p:blipFill rotWithShape="1">
            <a:blip r:embed="rId4"/>
            <a:srcRect l="17439" r="18038"/>
            <a:stretch/>
          </p:blipFill>
          <p:spPr>
            <a:xfrm>
              <a:off x="686159" y="633457"/>
              <a:ext cx="2849880" cy="2943873"/>
            </a:xfrm>
            <a:prstGeom prst="rect">
              <a:avLst/>
            </a:prstGeom>
          </p:spPr>
        </p:pic>
      </p:grpSp>
    </p:spTree>
    <p:extLst>
      <p:ext uri="{BB962C8B-B14F-4D97-AF65-F5344CB8AC3E}">
        <p14:creationId xmlns:p14="http://schemas.microsoft.com/office/powerpoint/2010/main" val="401713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4" name="Picture 13" descr="A group of people standing on a arrow  Description automatically generated">
            <a:extLst>
              <a:ext uri="{FF2B5EF4-FFF2-40B4-BE49-F238E27FC236}">
                <a16:creationId xmlns:a16="http://schemas.microsoft.com/office/drawing/2014/main" id="{3AF0A26D-CA08-4444-AD3E-FF6B88FF92E5}"/>
              </a:ext>
            </a:extLst>
          </p:cNvPr>
          <p:cNvPicPr>
            <a:picLocks noChangeAspect="1"/>
          </p:cNvPicPr>
          <p:nvPr/>
        </p:nvPicPr>
        <p:blipFill>
          <a:blip r:embed="rId3"/>
          <a:stretch>
            <a:fillRect/>
          </a:stretch>
        </p:blipFill>
        <p:spPr>
          <a:xfrm flipH="1">
            <a:off x="4488180" y="1021274"/>
            <a:ext cx="4655820" cy="3100952"/>
          </a:xfrm>
          <a:prstGeom prst="rect">
            <a:avLst/>
          </a:prstGeom>
        </p:spPr>
      </p:pic>
      <p:sp>
        <p:nvSpPr>
          <p:cNvPr id="4" name="Google Shape;127;p22">
            <a:extLst>
              <a:ext uri="{FF2B5EF4-FFF2-40B4-BE49-F238E27FC236}">
                <a16:creationId xmlns:a16="http://schemas.microsoft.com/office/drawing/2014/main" id="{8896CF32-2381-134F-850C-1B4E39261E20}"/>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Operating Expenses &amp; Net Profit</a:t>
            </a:r>
          </a:p>
        </p:txBody>
      </p:sp>
      <p:sp>
        <p:nvSpPr>
          <p:cNvPr id="8" name="Google Shape;134;p23">
            <a:extLst>
              <a:ext uri="{FF2B5EF4-FFF2-40B4-BE49-F238E27FC236}">
                <a16:creationId xmlns:a16="http://schemas.microsoft.com/office/drawing/2014/main" id="{57335198-79A6-CAA5-2CC6-0BB009B8F43A}"/>
              </a:ext>
            </a:extLst>
          </p:cNvPr>
          <p:cNvSpPr txBox="1"/>
          <p:nvPr/>
        </p:nvSpPr>
        <p:spPr>
          <a:xfrm>
            <a:off x="131949" y="1142768"/>
            <a:ext cx="4440051" cy="2882800"/>
          </a:xfrm>
          <a:prstGeom prst="rect">
            <a:avLst/>
          </a:prstGeom>
          <a:noFill/>
          <a:ln>
            <a:noFill/>
          </a:ln>
        </p:spPr>
        <p:txBody>
          <a:bodyPr spcFirstLastPara="1" wrap="square" lIns="91425" tIns="45700" rIns="91425" bIns="45700" anchor="t" anchorCtr="0">
            <a:spAutoFit/>
          </a:bodyPr>
          <a:lstStyle/>
          <a:p>
            <a:pPr marL="173736" indent="-173736">
              <a:spcAft>
                <a:spcPts val="800"/>
              </a:spcAft>
              <a:buFont typeface="Arial" panose="020B0604020202020204" pitchFamily="34" charset="0"/>
              <a:buChar char="•"/>
            </a:pPr>
            <a:r>
              <a:rPr lang="en-US" b="1" dirty="0"/>
              <a:t>Operating Expenses Breakdown</a:t>
            </a:r>
            <a:br>
              <a:rPr lang="en-US" dirty="0"/>
            </a:br>
            <a:r>
              <a:rPr lang="en-US" dirty="0"/>
              <a:t>Total Operating Expenses for FY 2024–25 amounted to ₹11.8 Crore. Selling &amp; Distribution expenses accounted for ₹4.2 Crore (36%), Administrative costs were ₹3.9 Crore (33%), and R&amp;D and other overheads totalled ₹3.7 Crore (31%). Expenses grew by 9% YoY, but remained within the budgeted threshold, reflecting disciplined cost management across all departments.</a:t>
            </a:r>
          </a:p>
          <a:p>
            <a:pPr marL="173736" indent="-173736">
              <a:spcAft>
                <a:spcPts val="800"/>
              </a:spcAft>
              <a:buFont typeface="Arial" panose="020B0604020202020204" pitchFamily="34" charset="0"/>
              <a:buChar char="•"/>
            </a:pPr>
            <a:r>
              <a:rPr lang="en-US" b="1" dirty="0"/>
              <a:t>Net Profit &amp; EBITDA Performance</a:t>
            </a:r>
            <a:br>
              <a:rPr lang="en-US" dirty="0"/>
            </a:br>
            <a:r>
              <a:rPr lang="en-US" dirty="0"/>
              <a:t>After deducting operating expenses and taxes, Net Profit for the year stood at ₹5.8 Crore, representing a Net Profit Margin of 11.9% — an improvement of 2.1 percentage points over FY 2023–24. EBITDA reached ₹8.4 Crore with an EBITDA margin of 17.3%, demonstrating strong operational leverage and sustained profitability growth.</a:t>
            </a:r>
          </a:p>
        </p:txBody>
      </p:sp>
    </p:spTree>
    <p:extLst>
      <p:ext uri="{BB962C8B-B14F-4D97-AF65-F5344CB8AC3E}">
        <p14:creationId xmlns:p14="http://schemas.microsoft.com/office/powerpoint/2010/main" val="262120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Google Shape;127;p22">
            <a:extLst>
              <a:ext uri="{FF2B5EF4-FFF2-40B4-BE49-F238E27FC236}">
                <a16:creationId xmlns:a16="http://schemas.microsoft.com/office/drawing/2014/main" id="{2CBB2190-2983-5B07-C14F-C0C1B82BC484}"/>
              </a:ext>
            </a:extLst>
          </p:cNvPr>
          <p:cNvSpPr txBox="1">
            <a:spLocks/>
          </p:cNvSpPr>
          <p:nvPr/>
        </p:nvSpPr>
        <p:spPr>
          <a:xfrm>
            <a:off x="139767" y="687300"/>
            <a:ext cx="8520600" cy="338514"/>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1600" b="1">
                <a:solidFill>
                  <a:srgbClr val="002060"/>
                </a:solidFill>
              </a:rPr>
              <a:t>Key Findings &amp; Recommendations</a:t>
            </a:r>
          </a:p>
        </p:txBody>
      </p:sp>
      <p:sp>
        <p:nvSpPr>
          <p:cNvPr id="8" name="Google Shape;134;p23">
            <a:extLst>
              <a:ext uri="{FF2B5EF4-FFF2-40B4-BE49-F238E27FC236}">
                <a16:creationId xmlns:a16="http://schemas.microsoft.com/office/drawing/2014/main" id="{F656EEBA-FCC6-FE6F-EAF7-837658983D56}"/>
              </a:ext>
            </a:extLst>
          </p:cNvPr>
          <p:cNvSpPr txBox="1"/>
          <p:nvPr/>
        </p:nvSpPr>
        <p:spPr>
          <a:xfrm>
            <a:off x="131949" y="1142768"/>
            <a:ext cx="4440051" cy="2441654"/>
          </a:xfrm>
          <a:prstGeom prst="rect">
            <a:avLst/>
          </a:prstGeom>
          <a:noFill/>
          <a:ln>
            <a:noFill/>
          </a:ln>
        </p:spPr>
        <p:txBody>
          <a:bodyPr spcFirstLastPara="1" wrap="square" lIns="91425" tIns="45700" rIns="91425" bIns="45700" anchor="t" anchorCtr="0">
            <a:spAutoFit/>
          </a:bodyPr>
          <a:lstStyle/>
          <a:p>
            <a:pPr marL="173736" lvl="0" indent="-173736">
              <a:spcAft>
                <a:spcPts val="800"/>
              </a:spcAft>
              <a:buFont typeface="Arial" panose="020B0604020202020204" pitchFamily="34" charset="0"/>
              <a:buChar char="•"/>
            </a:pPr>
            <a:r>
              <a:rPr lang="en-US" dirty="0"/>
              <a:t>Revenue grew 14% YoY to ₹48.6 Crore, driven by strong performance in Category A and the southern region. </a:t>
            </a:r>
          </a:p>
          <a:p>
            <a:pPr marL="173736" lvl="0" indent="-173736">
              <a:spcAft>
                <a:spcPts val="800"/>
              </a:spcAft>
              <a:buFont typeface="Arial" panose="020B0604020202020204" pitchFamily="34" charset="0"/>
              <a:buChar char="•"/>
            </a:pPr>
            <a:r>
              <a:rPr lang="en-US" dirty="0"/>
              <a:t>Gross Margin of 40.1% reflects healthy product pricing; recommend reviewing COGS for Categories C &amp; D where margins dipped below 32%.</a:t>
            </a:r>
          </a:p>
          <a:p>
            <a:pPr marL="173736" lvl="0" indent="-173736">
              <a:spcAft>
                <a:spcPts val="800"/>
              </a:spcAft>
              <a:buFont typeface="Arial" panose="020B0604020202020204" pitchFamily="34" charset="0"/>
              <a:buChar char="•"/>
            </a:pPr>
            <a:r>
              <a:rPr lang="en-US" dirty="0"/>
              <a:t> Operating expenses grew 9% YoY but stayed within budget; focus on reducing administrative overhead to improve EBITDA margins further. </a:t>
            </a:r>
          </a:p>
          <a:p>
            <a:pPr marL="173736" lvl="0" indent="-173736">
              <a:spcAft>
                <a:spcPts val="800"/>
              </a:spcAft>
              <a:buFont typeface="Arial" panose="020B0604020202020204" pitchFamily="34" charset="0"/>
              <a:buChar char="•"/>
            </a:pPr>
            <a:r>
              <a:rPr lang="en-US" dirty="0"/>
              <a:t>Net Profit of ₹5.8 Crore (11.9% margin) marks the highest profitability in 3 years; sustaining this trajectory requires disciplined cost controls and revenue diversification.</a:t>
            </a:r>
          </a:p>
        </p:txBody>
      </p:sp>
      <p:pic>
        <p:nvPicPr>
          <p:cNvPr id="9" name="Picture 8" descr="A person standing next to a clipboard with a checklist  Description automatically generated">
            <a:extLst>
              <a:ext uri="{FF2B5EF4-FFF2-40B4-BE49-F238E27FC236}">
                <a16:creationId xmlns:a16="http://schemas.microsoft.com/office/drawing/2014/main" id="{E9417E3B-DDB5-FAE5-89DC-EBB8DF91425C}"/>
              </a:ext>
            </a:extLst>
          </p:cNvPr>
          <p:cNvPicPr>
            <a:picLocks noChangeAspect="1"/>
          </p:cNvPicPr>
          <p:nvPr/>
        </p:nvPicPr>
        <p:blipFill rotWithShape="1">
          <a:blip r:embed="rId3"/>
          <a:srcRect l="17552" r="12574"/>
          <a:stretch/>
        </p:blipFill>
        <p:spPr>
          <a:xfrm>
            <a:off x="5205663" y="1100827"/>
            <a:ext cx="3930314" cy="3749862"/>
          </a:xfrm>
          <a:prstGeom prst="rect">
            <a:avLst/>
          </a:prstGeom>
        </p:spPr>
      </p:pic>
    </p:spTree>
    <p:extLst>
      <p:ext uri="{BB962C8B-B14F-4D97-AF65-F5344CB8AC3E}">
        <p14:creationId xmlns:p14="http://schemas.microsoft.com/office/powerpoint/2010/main" val="3104766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  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1869484" y="1466831"/>
            <a:ext cx="5647194" cy="3064485"/>
          </a:xfrm>
          <a:prstGeom prst="rect">
            <a:avLst/>
          </a:prstGeom>
        </p:spPr>
      </p:pic>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20</TotalTime>
  <Words>506</Words>
  <Application>Microsoft Office PowerPoint</Application>
  <PresentationFormat>On-screen Show (16:9)</PresentationFormat>
  <Paragraphs>29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sonalverma5184@gmail.com</cp:lastModifiedBy>
  <cp:revision>9</cp:revision>
  <dcterms:modified xsi:type="dcterms:W3CDTF">2026-05-15T07:10:00Z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